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27ef79e2224dc8" /><Relationship Type="http://schemas.openxmlformats.org/officeDocument/2006/relationships/extended-properties" Target="/docProps/app.xml" Id="R07d343d98483433b" /><Relationship Type="http://schemas.openxmlformats.org/officeDocument/2006/relationships/officeDocument" Target="/ppt/presentation.xml" Id="R72e2e5caea974f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4cea47cb324835"/>
  </p:sldMasterIdLst>
  <p:notesMasterIdLst>
    <p:notesMasterId xmlns:r="http://schemas.openxmlformats.org/officeDocument/2006/relationships" r:id="R414c3ab4fb814e7c"/>
  </p:notesMasterIdLst>
  <p:sldIdLst>
    <p:sldId xmlns:r="http://schemas.openxmlformats.org/officeDocument/2006/relationships" id="256" r:id="R93bb64bc65e04968"/>
    <p:sldId xmlns:r="http://schemas.openxmlformats.org/officeDocument/2006/relationships" id="257" r:id="R620667a386be4e77"/>
    <p:sldId xmlns:r="http://schemas.openxmlformats.org/officeDocument/2006/relationships" id="258" r:id="R3ef05437f4dd40d5"/>
    <p:sldId xmlns:r="http://schemas.openxmlformats.org/officeDocument/2006/relationships" id="259" r:id="R630d09ed08e349cf"/>
    <p:sldId xmlns:r="http://schemas.openxmlformats.org/officeDocument/2006/relationships" id="260" r:id="Rf366e8e85aea489e"/>
    <p:sldId xmlns:r="http://schemas.openxmlformats.org/officeDocument/2006/relationships" id="261" r:id="Rc30bd6d9675746c4"/>
    <p:sldId xmlns:r="http://schemas.openxmlformats.org/officeDocument/2006/relationships" id="262" r:id="Re308200976a34d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197638f7b4dd6" /><Relationship Type="http://schemas.openxmlformats.org/officeDocument/2006/relationships/slideMaster" Target="/ppt/slideMasters/slideMaster1.xml" Id="R744cea47cb324835" /><Relationship Type="http://schemas.openxmlformats.org/officeDocument/2006/relationships/notesMaster" Target="/ppt/notesMasters/notesMaster1.xml" Id="R414c3ab4fb814e7c" /><Relationship Type="http://schemas.openxmlformats.org/officeDocument/2006/relationships/presProps" Target="/ppt/presProps.xml" Id="R987aa79212f54ae9" /><Relationship Type="http://schemas.openxmlformats.org/officeDocument/2006/relationships/tableStyles" Target="/ppt/tableStyles.xml" Id="Rb1480749aaee4d39" /><Relationship Type="http://schemas.openxmlformats.org/officeDocument/2006/relationships/slide" Target="/ppt/slides/slide1.xml" Id="R93bb64bc65e04968" /><Relationship Type="http://schemas.openxmlformats.org/officeDocument/2006/relationships/slide" Target="/ppt/slides/slide2.xml" Id="R620667a386be4e77" /><Relationship Type="http://schemas.openxmlformats.org/officeDocument/2006/relationships/slide" Target="/ppt/slides/slide3.xml" Id="R3ef05437f4dd40d5" /><Relationship Type="http://schemas.openxmlformats.org/officeDocument/2006/relationships/slide" Target="/ppt/slides/slide4.xml" Id="R630d09ed08e349cf" /><Relationship Type="http://schemas.openxmlformats.org/officeDocument/2006/relationships/slide" Target="/ppt/slides/slide5.xml" Id="Rf366e8e85aea489e" /><Relationship Type="http://schemas.openxmlformats.org/officeDocument/2006/relationships/slide" Target="/ppt/slides/slide6.xml" Id="Rc30bd6d9675746c4" /><Relationship Type="http://schemas.openxmlformats.org/officeDocument/2006/relationships/slide" Target="/ppt/slides/slide7.xml" Id="Re308200976a3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8bd3fc524745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252754f42e49c3" /><Relationship Type="http://schemas.openxmlformats.org/officeDocument/2006/relationships/notesMaster" Target="/ppt/notesMasters/notesMaster1.xml" Id="Raa37e0d8be674f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218678ae0b4f45" /><Relationship Type="http://schemas.openxmlformats.org/officeDocument/2006/relationships/notesMaster" Target="/ppt/notesMasters/notesMaster1.xml" Id="R52398197030444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58fa47510044d5" /><Relationship Type="http://schemas.openxmlformats.org/officeDocument/2006/relationships/notesMaster" Target="/ppt/notesMasters/notesMaster1.xml" Id="R5222cbd3698646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c17fbfc41b481b" /><Relationship Type="http://schemas.openxmlformats.org/officeDocument/2006/relationships/notesMaster" Target="/ppt/notesMasters/notesMaster1.xml" Id="Rc32da27723c744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3d02cbb33d4c1c" /><Relationship Type="http://schemas.openxmlformats.org/officeDocument/2006/relationships/notesMaster" Target="/ppt/notesMasters/notesMaster1.xml" Id="Rfaa75ca18ada40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119dcd92474374" /><Relationship Type="http://schemas.openxmlformats.org/officeDocument/2006/relationships/notesMaster" Target="/ppt/notesMasters/notesMaster1.xml" Id="R51704a73a6b642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ebe476106c40f4" /><Relationship Type="http://schemas.openxmlformats.org/officeDocument/2006/relationships/notesMaster" Target="/ppt/notesMasters/notesMaster1.xml" Id="R13af88f94d3c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90fc3bd944e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e088a1a9cd423a" /><Relationship Type="http://schemas.openxmlformats.org/officeDocument/2006/relationships/slideLayout" Target="/ppt/slideLayouts/slideLayout1.xml" Id="R670f903c623047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0f903c623047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99b243d994787" /><Relationship Type="http://schemas.openxmlformats.org/officeDocument/2006/relationships/notesSlide" Target="/ppt/notesSlides/notesSlide1.xml" Id="R2c32d063a52f44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3bb765cf74fb3" /><Relationship Type="http://schemas.openxmlformats.org/officeDocument/2006/relationships/notesSlide" Target="/ppt/notesSlides/notesSlide2.xml" Id="R3db730b1002342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e76f7b12746a2" /><Relationship Type="http://schemas.openxmlformats.org/officeDocument/2006/relationships/notesSlide" Target="/ppt/notesSlides/notesSlide3.xml" Id="R5a05ea2414574a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ec2c7d62e4dc9" /><Relationship Type="http://schemas.openxmlformats.org/officeDocument/2006/relationships/notesSlide" Target="/ppt/notesSlides/notesSlide4.xml" Id="Rb43dab743dca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5c03c81e4447c" /><Relationship Type="http://schemas.openxmlformats.org/officeDocument/2006/relationships/notesSlide" Target="/ppt/notesSlides/notesSlide5.xml" Id="Re0e87876eca549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abb2adba849f2" /><Relationship Type="http://schemas.openxmlformats.org/officeDocument/2006/relationships/notesSlide" Target="/ppt/notesSlides/notesSlide6.xml" Id="Rc5a7c9f12aa241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4eff99d4140d1" /><Relationship Type="http://schemas.openxmlformats.org/officeDocument/2006/relationships/notesSlide" Target="/ppt/notesSlides/notesSlide7.xml" Id="R69e74e63b9cb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A04D58D-6AB5-4529-BBBE-9DD77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ĐỀ TÀI  ·  NHÓM 9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C57563F-70FE-4CAB-9E3E-4D69CE7B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HỆ THỐNG BÁN SÁCH
TRỰC TUYẾN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3D7C93F-82B6-4D3F-B955-B1B5D5F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042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46"/>
          </a:solidFill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707074E-F645-4EC9-9BCE-D7B02871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10096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Ứng dụng NestJS · Next.js  |  Kiến trúc, kỹ thuật và demo</a:t>
            </a:r>
          </a:p>
        </p:txBody>
      </p:sp>
      <p:sp>
        <p:nvSpPr>
          <p:cNvPr id="5" name="cover-lower-band">
            <a:extLst xmlns:a="http://schemas.openxmlformats.org/drawingml/2006/main">
              <a:ext uri="{FF2B5EF4-FFF2-40B4-BE49-F238E27FC236}">
                <a16:creationId xmlns:a16="http://schemas.microsoft.com/office/drawing/2014/main" id="{5BB951ED-0D2C-4689-8D68-89B90E9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86350"/>
            <a:ext cx="121920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</p:spPr>
      </p:sp>
      <p:sp>
        <p:nvSpPr>
          <p:cNvPr id="6" name="cover-band-label">
            <a:extLst xmlns:a="http://schemas.openxmlformats.org/drawingml/2006/main">
              <a:ext uri="{FF2B5EF4-FFF2-40B4-BE49-F238E27FC236}">
                <a16:creationId xmlns:a16="http://schemas.microsoft.com/office/drawing/2014/main" id="{C882451D-8872-4973-9DDD-ECAFBFCC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NỘI DUNG TRÌNH BÀY</a:t>
            </a:r>
          </a:p>
        </p:txBody>
      </p:sp>
      <p:sp>
        <p:nvSpPr>
          <p:cNvPr id="7" name="cover-band-content">
            <a:extLst xmlns:a="http://schemas.openxmlformats.org/drawingml/2006/main">
              <a:ext uri="{FF2B5EF4-FFF2-40B4-BE49-F238E27FC236}">
                <a16:creationId xmlns:a16="http://schemas.microsoft.com/office/drawing/2014/main" id="{7478873E-1C70-4A9A-B28B-88CA2C97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95975"/>
            <a:ext cx="1057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Bài toán    →    Kiến trúc    →    Phủ kỹ thuật    →    Demo nhanh</a:t>
            </a:r>
          </a:p>
        </p:txBody>
      </p:sp>
    </p:spTree>
    <p:extLst>
      <p:ext uri="{BB962C8B-B14F-4D97-AF65-F5344CB8AC3E}">
        <p14:creationId xmlns:p14="http://schemas.microsoft.com/office/powerpoint/2010/main" val="1266262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375AF78F-9172-4943-942B-94227026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BOOK SELLING SYSTEM  /  NHÓM 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FACD72-2AD8-4B61-817F-9EF19DD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Bài toán và mục tiêu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A304BF-5BC2-456F-A849-627F3622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B15BBE-FA7A-44F0-92A4-5D6F9955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A1C205-A2A3-4B94-80ED-088CB688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problem-statement">
            <a:extLst xmlns:a="http://schemas.openxmlformats.org/drawingml/2006/main">
              <a:ext uri="{FF2B5EF4-FFF2-40B4-BE49-F238E27FC236}">
                <a16:creationId xmlns:a16="http://schemas.microsoft.com/office/drawing/2014/main" id="{668046AD-0B4A-4315-80AB-357D6196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3340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Từ tìm sách đến
đặt hàng trong
một luồng thống nhất.</a:t>
            </a:r>
          </a:p>
        </p:txBody>
      </p:sp>
      <p:sp>
        <p:nvSpPr>
          <p:cNvPr id="7" name="right-rail">
            <a:extLst xmlns:a="http://schemas.openxmlformats.org/drawingml/2006/main">
              <a:ext uri="{FF2B5EF4-FFF2-40B4-BE49-F238E27FC236}">
                <a16:creationId xmlns:a16="http://schemas.microsoft.com/office/drawing/2014/main" id="{83422022-D616-4BFD-B9E5-368C3547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19050" cy="3648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8" name="buyer-label">
            <a:extLst xmlns:a="http://schemas.openxmlformats.org/drawingml/2006/main">
              <a:ext uri="{FF2B5EF4-FFF2-40B4-BE49-F238E27FC236}">
                <a16:creationId xmlns:a16="http://schemas.microsoft.com/office/drawing/2014/main" id="{BFB81D8E-3069-4A92-B3DB-89563E6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43125"/>
            <a:ext cx="4095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NGƯỜI MUA</a:t>
            </a:r>
          </a:p>
        </p:txBody>
      </p:sp>
      <p:sp>
        <p:nvSpPr>
          <p:cNvPr id="9" name="buyer-text">
            <a:extLst xmlns:a="http://schemas.openxmlformats.org/drawingml/2006/main">
              <a:ext uri="{FF2B5EF4-FFF2-40B4-BE49-F238E27FC236}">
                <a16:creationId xmlns:a16="http://schemas.microsoft.com/office/drawing/2014/main" id="{45206380-4BE1-4DF1-98BE-5EC99760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457450"/>
            <a:ext cx="44100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Tra cứu sách, thêm giỏ, đặt hàng và xem đơn.</a:t>
            </a:r>
          </a:p>
        </p:txBody>
      </p:sp>
      <p:sp>
        <p:nvSpPr>
          <p:cNvPr id="10" name="buyer-rule">
            <a:extLst xmlns:a="http://schemas.openxmlformats.org/drawingml/2006/main">
              <a:ext uri="{FF2B5EF4-FFF2-40B4-BE49-F238E27FC236}">
                <a16:creationId xmlns:a16="http://schemas.microsoft.com/office/drawing/2014/main" id="{95E77A1E-DCBA-4580-91A4-D634D817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28975"/>
            <a:ext cx="4410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11" name="staff-label">
            <a:extLst xmlns:a="http://schemas.openxmlformats.org/drawingml/2006/main">
              <a:ext uri="{FF2B5EF4-FFF2-40B4-BE49-F238E27FC236}">
                <a16:creationId xmlns:a16="http://schemas.microsoft.com/office/drawing/2014/main" id="{E2B24F27-FA83-4FC1-81FC-443A07B5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19475"/>
            <a:ext cx="4095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NHÂN VIÊN</a:t>
            </a:r>
          </a:p>
        </p:txBody>
      </p:sp>
      <p:sp>
        <p:nvSpPr>
          <p:cNvPr id="12" name="staff-text">
            <a:extLst xmlns:a="http://schemas.openxmlformats.org/drawingml/2006/main">
              <a:ext uri="{FF2B5EF4-FFF2-40B4-BE49-F238E27FC236}">
                <a16:creationId xmlns:a16="http://schemas.microsoft.com/office/drawing/2014/main" id="{7A32229B-F992-4C51-B762-8230C5BB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733800"/>
            <a:ext cx="44100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Quản lý sách, tồn kho và trạng thái đơn.</a:t>
            </a:r>
          </a:p>
        </p:txBody>
      </p:sp>
      <p:sp>
        <p:nvSpPr>
          <p:cNvPr id="13" name="staff-rule">
            <a:extLst xmlns:a="http://schemas.openxmlformats.org/drawingml/2006/main">
              <a:ext uri="{FF2B5EF4-FFF2-40B4-BE49-F238E27FC236}">
                <a16:creationId xmlns:a16="http://schemas.microsoft.com/office/drawing/2014/main" id="{B8F31F77-9950-4B2C-BD6C-C1B851FD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495800"/>
            <a:ext cx="4410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14" name="system-label">
            <a:extLst xmlns:a="http://schemas.openxmlformats.org/drawingml/2006/main">
              <a:ext uri="{FF2B5EF4-FFF2-40B4-BE49-F238E27FC236}">
                <a16:creationId xmlns:a16="http://schemas.microsoft.com/office/drawing/2014/main" id="{61E382B1-4B06-451F-8115-084AF9EC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676775"/>
            <a:ext cx="4095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HỆ THỐNG</a:t>
            </a:r>
          </a:p>
        </p:txBody>
      </p:sp>
      <p:sp>
        <p:nvSpPr>
          <p:cNvPr id="15" name="system-text">
            <a:extLst xmlns:a="http://schemas.openxmlformats.org/drawingml/2006/main">
              <a:ext uri="{FF2B5EF4-FFF2-40B4-BE49-F238E27FC236}">
                <a16:creationId xmlns:a16="http://schemas.microsoft.com/office/drawing/2014/main" id="{57B90C8E-3333-4101-9CAA-2A3250C2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991100"/>
            <a:ext cx="441007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Giữ dữ liệu nhất quán, tìm nhanh và xử lý nền tin cậy.</a:t>
            </a:r>
          </a:p>
        </p:txBody>
      </p:sp>
    </p:spTree>
    <p:extLst>
      <p:ext uri="{BB962C8B-B14F-4D97-AF65-F5344CB8AC3E}">
        <p14:creationId xmlns:p14="http://schemas.microsoft.com/office/powerpoint/2010/main" val="1904045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330C56C1-DE1D-4DEB-8E60-9544D730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BOOK SELLING SYSTEM  /  NHÓM 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2B3FD0-E43A-4BD1-BC22-A47E7CB6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Kiến trúc hệ thống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ADAB35-939C-4707-8E5B-72C1E7B5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6B92A5-E360-448E-BC67-4BBD2DED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154418-05B6-4326-8438-70480D17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1B86741-3331-4A3B-A857-DED257DA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95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Luồng HTTP ở trên; dữ liệu và dịch vụ nền ở dưới.</a:t>
            </a:r>
          </a:p>
        </p:txBody>
      </p:sp>
      <p:sp>
        <p:nvSpPr>
          <p:cNvPr id="7" name="frontend-box">
            <a:extLst xmlns:a="http://schemas.openxmlformats.org/drawingml/2006/main">
              <a:ext uri="{FF2B5EF4-FFF2-40B4-BE49-F238E27FC236}">
                <a16:creationId xmlns:a16="http://schemas.microsoft.com/office/drawing/2014/main" id="{11239086-B0E4-42D0-A5D8-10214B41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457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</p:spPr>
      </p:sp>
      <p:sp>
        <p:nvSpPr>
          <p:cNvPr id="8" name="frontend-label">
            <a:extLst xmlns:a="http://schemas.openxmlformats.org/drawingml/2006/main">
              <a:ext uri="{FF2B5EF4-FFF2-40B4-BE49-F238E27FC236}">
                <a16:creationId xmlns:a16="http://schemas.microsoft.com/office/drawing/2014/main" id="{210D4227-44A0-40D5-B6B7-FCC28344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71750"/>
            <a:ext cx="2000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GIAO DIỆN</a:t>
            </a:r>
          </a:p>
        </p:txBody>
      </p:sp>
      <p:sp>
        <p:nvSpPr>
          <p:cNvPr id="9" name="frontend-main">
            <a:extLst xmlns:a="http://schemas.openxmlformats.org/drawingml/2006/main">
              <a:ext uri="{FF2B5EF4-FFF2-40B4-BE49-F238E27FC236}">
                <a16:creationId xmlns:a16="http://schemas.microsoft.com/office/drawing/2014/main" id="{733BDF9C-A5A4-4AE3-99DD-303B7A8A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14650"/>
            <a:ext cx="2000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Next.js</a:t>
            </a:r>
          </a:p>
        </p:txBody>
      </p:sp>
      <p:sp>
        <p:nvSpPr>
          <p:cNvPr id="10" name="frontend-detail">
            <a:extLst xmlns:a="http://schemas.openxmlformats.org/drawingml/2006/main">
              <a:ext uri="{FF2B5EF4-FFF2-40B4-BE49-F238E27FC236}">
                <a16:creationId xmlns:a16="http://schemas.microsoft.com/office/drawing/2014/main" id="{EA27EAF8-0F0D-467B-A606-35CD6AF3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0425"/>
            <a:ext cx="20288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Trang sách · giỏ · đơn</a:t>
            </a:r>
          </a:p>
        </p:txBody>
      </p:sp>
      <p:sp>
        <p:nvSpPr>
          <p:cNvPr id="11" name="front-arrow">
            <a:extLst xmlns:a="http://schemas.openxmlformats.org/drawingml/2006/main">
              <a:ext uri="{FF2B5EF4-FFF2-40B4-BE49-F238E27FC236}">
                <a16:creationId xmlns:a16="http://schemas.microsoft.com/office/drawing/2014/main" id="{950B2BCB-468A-4E65-9896-13AFE1D7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09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0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2" name="api-box">
            <a:extLst xmlns:a="http://schemas.openxmlformats.org/drawingml/2006/main">
              <a:ext uri="{FF2B5EF4-FFF2-40B4-BE49-F238E27FC236}">
                <a16:creationId xmlns:a16="http://schemas.microsoft.com/office/drawing/2014/main" id="{F7586F98-82E7-4586-95CB-AA3B9016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28850"/>
            <a:ext cx="4324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</p:spPr>
      </p:sp>
      <p:sp>
        <p:nvSpPr>
          <p:cNvPr id="13" name="api-label">
            <a:extLst xmlns:a="http://schemas.openxmlformats.org/drawingml/2006/main">
              <a:ext uri="{FF2B5EF4-FFF2-40B4-BE49-F238E27FC236}">
                <a16:creationId xmlns:a16="http://schemas.microsoft.com/office/drawing/2014/main" id="{C85FCE51-F639-405A-B457-7B497A10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9825"/>
            <a:ext cx="3476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REST API</a:t>
            </a:r>
          </a:p>
        </p:txBody>
      </p:sp>
      <p:sp>
        <p:nvSpPr>
          <p:cNvPr id="14" name="api-main">
            <a:extLst xmlns:a="http://schemas.openxmlformats.org/drawingml/2006/main">
              <a:ext uri="{FF2B5EF4-FFF2-40B4-BE49-F238E27FC236}">
                <a16:creationId xmlns:a16="http://schemas.microsoft.com/office/drawing/2014/main" id="{FAAB80CD-A51A-4CB0-8F9E-9A569D55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71775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NestJS + TypeScript</a:t>
            </a:r>
          </a:p>
        </p:txBody>
      </p:sp>
      <p:sp>
        <p:nvSpPr>
          <p:cNvPr id="15" name="api-detail">
            <a:extLst xmlns:a="http://schemas.openxmlformats.org/drawingml/2006/main">
              <a:ext uri="{FF2B5EF4-FFF2-40B4-BE49-F238E27FC236}">
                <a16:creationId xmlns:a16="http://schemas.microsoft.com/office/drawing/2014/main" id="{18ADE10B-C349-4BC4-8E55-7530E9E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5280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Auth · Books · Carts · Orders · Cron</a:t>
            </a:r>
          </a:p>
        </p:txBody>
      </p:sp>
      <p:sp>
        <p:nvSpPr>
          <p:cNvPr id="16" name="db-arrow">
            <a:extLst xmlns:a="http://schemas.openxmlformats.org/drawingml/2006/main">
              <a:ext uri="{FF2B5EF4-FFF2-40B4-BE49-F238E27FC236}">
                <a16:creationId xmlns:a16="http://schemas.microsoft.com/office/drawing/2014/main" id="{3D52744D-DB48-4FE7-A21F-71B2CDC5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523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0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7" name="db-box">
            <a:extLst xmlns:a="http://schemas.openxmlformats.org/drawingml/2006/main">
              <a:ext uri="{FF2B5EF4-FFF2-40B4-BE49-F238E27FC236}">
                <a16:creationId xmlns:a16="http://schemas.microsoft.com/office/drawing/2014/main" id="{7BB9615A-A3A9-49AA-8CED-C062B259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819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</p:spPr>
      </p:sp>
      <p:sp>
        <p:nvSpPr>
          <p:cNvPr id="18" name="db-label">
            <a:extLst xmlns:a="http://schemas.openxmlformats.org/drawingml/2006/main">
              <a:ext uri="{FF2B5EF4-FFF2-40B4-BE49-F238E27FC236}">
                <a16:creationId xmlns:a16="http://schemas.microsoft.com/office/drawing/2014/main" id="{3BF09D15-BDC8-4880-8B23-7259CE8B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23336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DỮ LIỆU GỐC</a:t>
            </a:r>
          </a:p>
        </p:txBody>
      </p:sp>
      <p:sp>
        <p:nvSpPr>
          <p:cNvPr id="19" name="db-main">
            <a:extLst xmlns:a="http://schemas.openxmlformats.org/drawingml/2006/main">
              <a:ext uri="{FF2B5EF4-FFF2-40B4-BE49-F238E27FC236}">
                <a16:creationId xmlns:a16="http://schemas.microsoft.com/office/drawing/2014/main" id="{0528641B-E408-4E07-997A-C319B8EC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23526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PostgreSQL</a:t>
            </a:r>
          </a:p>
        </p:txBody>
      </p:sp>
      <p:sp>
        <p:nvSpPr>
          <p:cNvPr id="20" name="db-detail">
            <a:extLst xmlns:a="http://schemas.openxmlformats.org/drawingml/2006/main">
              <a:ext uri="{FF2B5EF4-FFF2-40B4-BE49-F238E27FC236}">
                <a16:creationId xmlns:a16="http://schemas.microsoft.com/office/drawing/2014/main" id="{ADA51521-6234-47B1-9AD4-3564545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0425"/>
            <a:ext cx="23526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Prisma · transaction</a:t>
            </a:r>
          </a:p>
        </p:txBody>
      </p:sp>
      <p:sp>
        <p:nvSpPr>
          <p:cNvPr id="21" name="infra-arrow">
            <a:extLst xmlns:a="http://schemas.openxmlformats.org/drawingml/2006/main">
              <a:ext uri="{FF2B5EF4-FFF2-40B4-BE49-F238E27FC236}">
                <a16:creationId xmlns:a16="http://schemas.microsoft.com/office/drawing/2014/main" id="{CAE2A28B-DB50-46AA-ABDF-CC5C55C8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52875"/>
            <a:ext cx="4314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↓  DỊCH VỤ HẠ TẦNG  ↓</a:t>
            </a:r>
          </a:p>
        </p:txBody>
      </p:sp>
      <p:sp>
        <p:nvSpPr>
          <p:cNvPr id="22" name="redis-box">
            <a:extLst xmlns:a="http://schemas.openxmlformats.org/drawingml/2006/main">
              <a:ext uri="{FF2B5EF4-FFF2-40B4-BE49-F238E27FC236}">
                <a16:creationId xmlns:a16="http://schemas.microsoft.com/office/drawing/2014/main" id="{86B5D05E-D28A-4B0D-8139-2B299FD4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43425"/>
            <a:ext cx="33623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3"/>
          </a:solidFill>
        </p:spPr>
      </p:sp>
      <p:sp>
        <p:nvSpPr>
          <p:cNvPr id="23" name="redis-name">
            <a:extLst xmlns:a="http://schemas.openxmlformats.org/drawingml/2006/main">
              <a:ext uri="{FF2B5EF4-FFF2-40B4-BE49-F238E27FC236}">
                <a16:creationId xmlns:a16="http://schemas.microsoft.com/office/drawing/2014/main" id="{129D2039-F36F-4293-8464-C7B2326C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9432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Redis</a:t>
            </a:r>
          </a:p>
        </p:txBody>
      </p:sp>
      <p:sp>
        <p:nvSpPr>
          <p:cNvPr id="24" name="redis-desc">
            <a:extLst xmlns:a="http://schemas.openxmlformats.org/drawingml/2006/main">
              <a:ext uri="{FF2B5EF4-FFF2-40B4-BE49-F238E27FC236}">
                <a16:creationId xmlns:a16="http://schemas.microsoft.com/office/drawing/2014/main" id="{872C29F4-7ADB-4506-B562-29324098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29432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Cache và khóa tác vụ</a:t>
            </a:r>
          </a:p>
        </p:txBody>
      </p:sp>
      <p:sp>
        <p:nvSpPr>
          <p:cNvPr id="25" name="rabbit-box">
            <a:extLst xmlns:a="http://schemas.openxmlformats.org/drawingml/2006/main">
              <a:ext uri="{FF2B5EF4-FFF2-40B4-BE49-F238E27FC236}">
                <a16:creationId xmlns:a16="http://schemas.microsoft.com/office/drawing/2014/main" id="{F67ADD71-9E7D-4792-AF57-E28B0167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43425"/>
            <a:ext cx="33623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3"/>
          </a:solidFill>
        </p:spPr>
      </p:sp>
      <p:sp>
        <p:nvSpPr>
          <p:cNvPr id="26" name="rabbit-name">
            <a:extLst xmlns:a="http://schemas.openxmlformats.org/drawingml/2006/main">
              <a:ext uri="{FF2B5EF4-FFF2-40B4-BE49-F238E27FC236}">
                <a16:creationId xmlns:a16="http://schemas.microsoft.com/office/drawing/2014/main" id="{9E970D64-059B-42C3-9471-9C05992C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24400"/>
            <a:ext cx="29432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RabbitMQ</a:t>
            </a:r>
          </a:p>
        </p:txBody>
      </p:sp>
      <p:sp>
        <p:nvSpPr>
          <p:cNvPr id="27" name="rabbit-desc">
            <a:extLst xmlns:a="http://schemas.openxmlformats.org/drawingml/2006/main">
              <a:ext uri="{FF2B5EF4-FFF2-40B4-BE49-F238E27FC236}">
                <a16:creationId xmlns:a16="http://schemas.microsoft.com/office/drawing/2014/main" id="{01551B9D-709B-48C3-B6C4-A0762052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10175"/>
            <a:ext cx="29432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Event, retry và DLQ</a:t>
            </a:r>
          </a:p>
        </p:txBody>
      </p:sp>
      <p:sp>
        <p:nvSpPr>
          <p:cNvPr id="28" name="search-box">
            <a:extLst xmlns:a="http://schemas.openxmlformats.org/drawingml/2006/main">
              <a:ext uri="{FF2B5EF4-FFF2-40B4-BE49-F238E27FC236}">
                <a16:creationId xmlns:a16="http://schemas.microsoft.com/office/drawing/2014/main" id="{B66909F5-7C0A-4B95-8BB3-2B63CFCF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43425"/>
            <a:ext cx="35528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3"/>
          </a:solidFill>
        </p:spPr>
      </p:sp>
      <p:sp>
        <p:nvSpPr>
          <p:cNvPr id="29" name="search-name">
            <a:extLst xmlns:a="http://schemas.openxmlformats.org/drawingml/2006/main">
              <a:ext uri="{FF2B5EF4-FFF2-40B4-BE49-F238E27FC236}">
                <a16:creationId xmlns:a16="http://schemas.microsoft.com/office/drawing/2014/main" id="{6AFB7AA2-B6EF-439D-89E2-D9FB920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24400"/>
            <a:ext cx="3143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Meilisearch</a:t>
            </a:r>
          </a:p>
        </p:txBody>
      </p:sp>
      <p:sp>
        <p:nvSpPr>
          <p:cNvPr id="30" name="search-desc">
            <a:extLst xmlns:a="http://schemas.openxmlformats.org/drawingml/2006/main">
              <a:ext uri="{FF2B5EF4-FFF2-40B4-BE49-F238E27FC236}">
                <a16:creationId xmlns:a16="http://schemas.microsoft.com/office/drawing/2014/main" id="{50E259B5-4DB7-4C56-9EC7-E9F23E3B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210175"/>
            <a:ext cx="31432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Tìm kiếm toàn văn</a:t>
            </a:r>
          </a:p>
        </p:txBody>
      </p:sp>
    </p:spTree>
    <p:extLst>
      <p:ext uri="{BB962C8B-B14F-4D97-AF65-F5344CB8AC3E}">
        <p14:creationId xmlns:p14="http://schemas.microsoft.com/office/powerpoint/2010/main" val="1065191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F5139345-723E-4C8A-B5A2-CEC31B97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BOOK SELLING SYSTEM  /  NHÓM 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0EBD69-46E2-49BD-8434-3837961D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Một đơn hàng đi qua hệ thống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6B4119F-0D29-4FA0-B802-17919825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CEB2816-A443-417A-82F3-AE17EA9D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6E09E6-0C30-4C91-9AEF-1479AFAF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225C3E1-5937-4E90-9D40-61AE42F6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95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Giao dịch dữ liệu và phát sự kiện được tách rõ.</a:t>
            </a:r>
          </a:p>
        </p:txBody>
      </p:sp>
      <p:sp>
        <p:nvSpPr>
          <p:cNvPr id="7" name="step-01">
            <a:extLst xmlns:a="http://schemas.openxmlformats.org/drawingml/2006/main">
              <a:ext uri="{FF2B5EF4-FFF2-40B4-BE49-F238E27FC236}">
                <a16:creationId xmlns:a16="http://schemas.microsoft.com/office/drawing/2014/main" id="{1A5E2174-1AF0-4D45-9B1E-57C6AC7B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152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step-rule-01">
            <a:extLst xmlns:a="http://schemas.openxmlformats.org/drawingml/2006/main">
              <a:ext uri="{FF2B5EF4-FFF2-40B4-BE49-F238E27FC236}">
                <a16:creationId xmlns:a16="http://schemas.microsoft.com/office/drawing/2014/main" id="{11142A01-0181-4B4B-A5FD-AD4C081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46"/>
          </a:solidFill>
        </p:spPr>
      </p:sp>
      <p:sp>
        <p:nvSpPr>
          <p:cNvPr id="9" name="step-head-01">
            <a:extLst xmlns:a="http://schemas.openxmlformats.org/drawingml/2006/main">
              <a:ext uri="{FF2B5EF4-FFF2-40B4-BE49-F238E27FC236}">
                <a16:creationId xmlns:a16="http://schemas.microsoft.com/office/drawing/2014/main" id="{3598EEEE-287A-478F-9B4D-97E30B3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2305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Giỏ hàng</a:t>
            </a:r>
          </a:p>
        </p:txBody>
      </p:sp>
      <p:sp>
        <p:nvSpPr>
          <p:cNvPr id="10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E0C0443F-E983-4AA1-8B37-93AAA7B8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2381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Khách chọn sách, số lượng và địa chỉ giao.</a:t>
            </a:r>
          </a:p>
        </p:txBody>
      </p:sp>
      <p:sp>
        <p:nvSpPr>
          <p:cNvPr id="11" name="step-02">
            <a:extLst xmlns:a="http://schemas.openxmlformats.org/drawingml/2006/main">
              <a:ext uri="{FF2B5EF4-FFF2-40B4-BE49-F238E27FC236}">
                <a16:creationId xmlns:a16="http://schemas.microsoft.com/office/drawing/2014/main" id="{1752C224-D38A-4E67-B62F-AF3469AA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24100"/>
            <a:ext cx="2152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step-rule-02">
            <a:extLst xmlns:a="http://schemas.openxmlformats.org/drawingml/2006/main">
              <a:ext uri="{FF2B5EF4-FFF2-40B4-BE49-F238E27FC236}">
                <a16:creationId xmlns:a16="http://schemas.microsoft.com/office/drawing/2014/main" id="{06118EF9-4233-4B71-A872-C0DC7205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813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46"/>
          </a:solidFill>
        </p:spPr>
      </p:sp>
      <p:sp>
        <p:nvSpPr>
          <p:cNvPr id="13" name="step-head-02">
            <a:extLst xmlns:a="http://schemas.openxmlformats.org/drawingml/2006/main">
              <a:ext uri="{FF2B5EF4-FFF2-40B4-BE49-F238E27FC236}">
                <a16:creationId xmlns:a16="http://schemas.microsoft.com/office/drawing/2014/main" id="{C6F9FBB2-7E14-42BD-870C-33C0EF56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38525"/>
            <a:ext cx="2305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Transaction</a:t>
            </a:r>
          </a:p>
        </p:txBody>
      </p:sp>
      <p:sp>
        <p:nvSpPr>
          <p:cNvPr id="14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B1599FD8-3A70-411D-A5FE-D11738D8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38600"/>
            <a:ext cx="2381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Kiểm tra kho; tạo đơn, trừ tồn và xóa giỏ.</a:t>
            </a:r>
          </a:p>
        </p:txBody>
      </p:sp>
      <p:sp>
        <p:nvSpPr>
          <p:cNvPr id="15" name="step-03">
            <a:extLst xmlns:a="http://schemas.openxmlformats.org/drawingml/2006/main">
              <a:ext uri="{FF2B5EF4-FFF2-40B4-BE49-F238E27FC236}">
                <a16:creationId xmlns:a16="http://schemas.microsoft.com/office/drawing/2014/main" id="{F72F99DB-A443-40F5-98CE-E8CDB750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2152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tep-rule-03">
            <a:extLst xmlns:a="http://schemas.openxmlformats.org/drawingml/2006/main">
              <a:ext uri="{FF2B5EF4-FFF2-40B4-BE49-F238E27FC236}">
                <a16:creationId xmlns:a16="http://schemas.microsoft.com/office/drawing/2014/main" id="{483A056B-827A-4213-8CFA-F8505D0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46"/>
          </a:solidFill>
        </p:spPr>
      </p:sp>
      <p:sp>
        <p:nvSpPr>
          <p:cNvPr id="17" name="step-head-03">
            <a:extLst xmlns:a="http://schemas.openxmlformats.org/drawingml/2006/main">
              <a:ext uri="{FF2B5EF4-FFF2-40B4-BE49-F238E27FC236}">
                <a16:creationId xmlns:a16="http://schemas.microsoft.com/office/drawing/2014/main" id="{508351EE-11E4-46D9-8A36-DCFD3B0D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38525"/>
            <a:ext cx="2305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Outbox</a:t>
            </a:r>
          </a:p>
        </p:txBody>
      </p:sp>
      <p:sp>
        <p:nvSpPr>
          <p:cNvPr id="18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FF0F7849-6272-4D9F-BBB0-691E30E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2381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Ghi event cùng transaction; publisher phát sau.</a:t>
            </a:r>
          </a:p>
        </p:txBody>
      </p:sp>
      <p:sp>
        <p:nvSpPr>
          <p:cNvPr id="19" name="step-04">
            <a:extLst xmlns:a="http://schemas.openxmlformats.org/drawingml/2006/main">
              <a:ext uri="{FF2B5EF4-FFF2-40B4-BE49-F238E27FC236}">
                <a16:creationId xmlns:a16="http://schemas.microsoft.com/office/drawing/2014/main" id="{510CB9BE-D08A-4370-9810-0EA8D21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24100"/>
            <a:ext cx="2152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0" name="step-rule-04">
            <a:extLst xmlns:a="http://schemas.openxmlformats.org/drawingml/2006/main">
              <a:ext uri="{FF2B5EF4-FFF2-40B4-BE49-F238E27FC236}">
                <a16:creationId xmlns:a16="http://schemas.microsoft.com/office/drawing/2014/main" id="{6F6D05BB-A717-4204-ADC2-A4E4215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813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46"/>
          </a:solidFill>
        </p:spPr>
      </p:sp>
      <p:sp>
        <p:nvSpPr>
          <p:cNvPr id="21" name="step-head-04">
            <a:extLst xmlns:a="http://schemas.openxmlformats.org/drawingml/2006/main">
              <a:ext uri="{FF2B5EF4-FFF2-40B4-BE49-F238E27FC236}">
                <a16:creationId xmlns:a16="http://schemas.microsoft.com/office/drawing/2014/main" id="{76248020-45B1-41A6-94E0-FDBF0B79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38525"/>
            <a:ext cx="2305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Thông báo</a:t>
            </a:r>
          </a:p>
        </p:txBody>
      </p:sp>
      <p:sp>
        <p:nvSpPr>
          <p:cNvPr id="22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0CC1E83C-9ECB-4B9B-86A0-EEA5B521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38600"/>
            <a:ext cx="2381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Consumer tạo thông báo không trùng; retry hoặc đưa vào DLQ.</a:t>
            </a:r>
          </a:p>
        </p:txBody>
      </p:sp>
      <p:sp>
        <p:nvSpPr>
          <p:cNvPr id="23" name="resilience-strip">
            <a:extLst xmlns:a="http://schemas.openxmlformats.org/drawingml/2006/main">
              <a:ext uri="{FF2B5EF4-FFF2-40B4-BE49-F238E27FC236}">
                <a16:creationId xmlns:a16="http://schemas.microsoft.com/office/drawing/2014/main" id="{4C2BB0E2-5E2F-4D37-9D92-366AE915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1087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</p:spPr>
      </p:sp>
      <p:sp>
        <p:nvSpPr>
          <p:cNvPr id="24" name="resilience">
            <a:extLst xmlns:a="http://schemas.openxmlformats.org/drawingml/2006/main">
              <a:ext uri="{FF2B5EF4-FFF2-40B4-BE49-F238E27FC236}">
                <a16:creationId xmlns:a16="http://schemas.microsoft.com/office/drawing/2014/main" id="{7C66FD0B-F455-4FF7-90EB-1608886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57825"/>
            <a:ext cx="107061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Ý nghĩa: đơn hàng được ghi trước; thông báo chạy nền nên không kéo dài thời gian phản hồi.</a:t>
            </a:r>
          </a:p>
        </p:txBody>
      </p:sp>
    </p:spTree>
    <p:extLst>
      <p:ext uri="{BB962C8B-B14F-4D97-AF65-F5344CB8AC3E}">
        <p14:creationId xmlns:p14="http://schemas.microsoft.com/office/powerpoint/2010/main" val="743373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835F7C7C-3715-4CC0-9F2A-761C443C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BOOK SELLING SYSTEM  /  NHÓM 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13CCD7-4B93-4622-B558-A118399D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Bảng phủ kỹ thuật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467920-A640-40BF-B5ED-3F581094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55EC67A-BFB4-48DF-9715-EA18DAE0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D169EF-A513-47C7-971B-92EC88A9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0F02F93-36C2-4F61-A36A-74329636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95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Mỗi công nghệ giải quyết một nhu cầu cụ thể của hệ thống.</a:t>
            </a:r>
          </a:p>
        </p:txBody>
      </p:sp>
      <p:graphicFrame>
        <p:nvGraphicFramePr>
          <p:cNvPr id="14" name="coverage-matrix"/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5181600"/>
                <a:gridCol w="3933825"/>
              </a:tblGrid>
              <a:tr h="458391">
                <a:tc>
                  <a:txBody>
                    <a:bodyPr/>
                    <a:lstStyle/>
                    <a:p>
                      <a:r>
                        <a:t>Kỹ thuật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Vai trò trong hệ thống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Ví dụ khi trình bày</a:t>
                      </a:r>
                    </a:p>
                  </a:txBody>
                  <a:tcPr marL="91440" marR="91440" marT="45720" marB="45720"/>
                </a:tc>
              </a:tr>
              <a:tr h="458391">
                <a:tc>
                  <a:txBody>
                    <a:bodyPr/>
                    <a:lstStyle/>
                    <a:p>
                      <a:r>
                        <a:t>NestJS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REST API; module, DI, validation, JWT/RBAC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Auth · Books · Carts · Orders</a:t>
                      </a:r>
                    </a:p>
                  </a:txBody>
                  <a:tcPr marL="91440" marR="91440" marT="45720" marB="45720"/>
                </a:tc>
              </a:tr>
              <a:tr h="458391"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Lưu sách, đơn, tồn kho; transaction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Tạo đơn và cập nhật tồn</a:t>
                      </a:r>
                    </a:p>
                  </a:txBody>
                  <a:tcPr marL="91440" marR="91440" marT="45720" marB="45720"/>
                </a:tc>
              </a:tr>
              <a:tr h="458391">
                <a:tc>
                  <a:txBody>
                    <a:bodyPr/>
                    <a:lstStyle/>
                    <a:p>
                      <a:r>
                        <a:t>Redis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Cache dữ liệu đọc; khóa tác vụ Cron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Đọc danh sách sách lặp lại</a:t>
                      </a:r>
                    </a:p>
                  </a:txBody>
                  <a:tcPr marL="91440" marR="91440" marT="45720" marB="45720"/>
                </a:tc>
              </a:tr>
              <a:tr h="458391">
                <a:tc>
                  <a:txBody>
                    <a:bodyPr/>
                    <a:lstStyle/>
                    <a:p>
                      <a:r>
                        <a:t>RabbitMQ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Đẩy thông báo sang xử lý nền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Sự kiện order.created</a:t>
                      </a:r>
                    </a:p>
                  </a:txBody>
                  <a:tcPr marL="91440" marR="91440" marT="45720" marB="45720"/>
                </a:tc>
              </a:tr>
              <a:tr h="458391">
                <a:tc>
                  <a:txBody>
                    <a:bodyPr/>
                    <a:lstStyle/>
                    <a:p>
                      <a:r>
                        <a:t>Cron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Kiểm tra tồn kho định kỳ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Cảnh báo sách sắp hết</a:t>
                      </a:r>
                    </a:p>
                  </a:txBody>
                  <a:tcPr marL="91440" marR="91440" marT="45720" marB="45720"/>
                </a:tc>
              </a:tr>
              <a:tr h="458391">
                <a:tc>
                  <a:txBody>
                    <a:bodyPr/>
                    <a:lstStyle/>
                    <a:p>
                      <a:r>
                        <a:t>Meilisearch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Tìm theo từ khóa và bộ lọc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Tìm tên sách hoặc tác giả</a:t>
                      </a:r>
                    </a:p>
                  </a:txBody>
                  <a:tcPr marL="91440" marR="91440" marT="45720" marB="45720"/>
                </a:tc>
              </a:tr>
              <a:tr h="458391">
                <a:tc>
                  <a:txBody>
                    <a:bodyPr/>
                    <a:lstStyle/>
                    <a:p>
                      <a:r>
                        <a:t>Docker Compose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Chạy đồng bộ toàn bộ dịch vụ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Khởi động demo một lệnh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745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BD89E4D-8178-4A32-8624-F5C7C8CD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BOOK SELLING SYSTEM  /  NHÓM 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825A01-4882-4907-9D2C-4A24DFBE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Demo nhanh: 3 phút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A1C44AC-1628-45B0-80E9-77382957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79636F-90C4-4C50-8BC5-22A978CA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A797E8-B6FA-4395-B0C9-31E21D23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32C5799-F1A7-4EF8-A277-676BD4F6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95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Chuẩn bị trước: .env demo, docker compose up --build -d và tài khoản mẫu.</a:t>
            </a:r>
          </a:p>
        </p:txBody>
      </p:sp>
      <p:sp>
        <p:nvSpPr>
          <p:cNvPr id="7" name="demo-time-0">
            <a:extLst xmlns:a="http://schemas.openxmlformats.org/drawingml/2006/main">
              <a:ext uri="{FF2B5EF4-FFF2-40B4-BE49-F238E27FC236}">
                <a16:creationId xmlns:a16="http://schemas.microsoft.com/office/drawing/2014/main" id="{7F1AEBEB-7529-4782-A10E-715B2512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00:00–00:30</a:t>
            </a:r>
          </a:p>
        </p:txBody>
      </p:sp>
      <p:sp>
        <p:nvSpPr>
          <p:cNvPr id="8" name="demo-head-0">
            <a:extLst xmlns:a="http://schemas.openxmlformats.org/drawingml/2006/main">
              <a:ext uri="{FF2B5EF4-FFF2-40B4-BE49-F238E27FC236}">
                <a16:creationId xmlns:a16="http://schemas.microsoft.com/office/drawing/2014/main" id="{A6CA8F54-8F8B-4DC1-8106-ED5D957D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05025"/>
            <a:ext cx="3238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Mở hệ thống</a:t>
            </a:r>
          </a:p>
        </p:txBody>
      </p:sp>
      <p:sp>
        <p:nvSpPr>
          <p:cNvPr id="9" name="demo-body-0">
            <a:extLst xmlns:a="http://schemas.openxmlformats.org/drawingml/2006/main">
              <a:ext uri="{FF2B5EF4-FFF2-40B4-BE49-F238E27FC236}">
                <a16:creationId xmlns:a16="http://schemas.microsoft.com/office/drawing/2014/main" id="{E3134F86-6FBE-4965-BE9F-CD8F1228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05025"/>
            <a:ext cx="5219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Vào localhost:3000, giới thiệu danh mục và đăng nhập tài khoản mẫu</a:t>
            </a:r>
          </a:p>
        </p:txBody>
      </p:sp>
      <p:sp>
        <p:nvSpPr>
          <p:cNvPr id="10" name="demo-rule-0">
            <a:extLst xmlns:a="http://schemas.openxmlformats.org/drawingml/2006/main">
              <a:ext uri="{FF2B5EF4-FFF2-40B4-BE49-F238E27FC236}">
                <a16:creationId xmlns:a16="http://schemas.microsoft.com/office/drawing/2014/main" id="{B75BE627-3A78-40BC-82CC-E5C82E36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11" name="demo-time-1">
            <a:extLst xmlns:a="http://schemas.openxmlformats.org/drawingml/2006/main">
              <a:ext uri="{FF2B5EF4-FFF2-40B4-BE49-F238E27FC236}">
                <a16:creationId xmlns:a16="http://schemas.microsoft.com/office/drawing/2014/main" id="{BA4EAA47-E624-44C1-9B6A-92F75CFA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00:30–01:20</a:t>
            </a:r>
          </a:p>
        </p:txBody>
      </p:sp>
      <p:sp>
        <p:nvSpPr>
          <p:cNvPr id="12" name="demo-head-1">
            <a:extLst xmlns:a="http://schemas.openxmlformats.org/drawingml/2006/main">
              <a:ext uri="{FF2B5EF4-FFF2-40B4-BE49-F238E27FC236}">
                <a16:creationId xmlns:a16="http://schemas.microsoft.com/office/drawing/2014/main" id="{28A34CA2-DD95-48C7-B014-E78FABE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3238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Chọn sách</a:t>
            </a:r>
          </a:p>
        </p:txBody>
      </p:sp>
      <p:sp>
        <p:nvSpPr>
          <p:cNvPr id="13" name="demo-body-1">
            <a:extLst xmlns:a="http://schemas.openxmlformats.org/drawingml/2006/main">
              <a:ext uri="{FF2B5EF4-FFF2-40B4-BE49-F238E27FC236}">
                <a16:creationId xmlns:a16="http://schemas.microsoft.com/office/drawing/2014/main" id="{894B190B-FFAD-4BBE-90B8-B9056597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5219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Tìm sách theo tên hoặc tác giả; thêm sách từ danh mục vào giỏ</a:t>
            </a:r>
          </a:p>
        </p:txBody>
      </p:sp>
      <p:sp>
        <p:nvSpPr>
          <p:cNvPr id="14" name="demo-rule-1">
            <a:extLst xmlns:a="http://schemas.openxmlformats.org/drawingml/2006/main">
              <a:ext uri="{FF2B5EF4-FFF2-40B4-BE49-F238E27FC236}">
                <a16:creationId xmlns:a16="http://schemas.microsoft.com/office/drawing/2014/main" id="{65D7207E-5F23-4B4E-9509-3E62B379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15" name="demo-time-2">
            <a:extLst xmlns:a="http://schemas.openxmlformats.org/drawingml/2006/main">
              <a:ext uri="{FF2B5EF4-FFF2-40B4-BE49-F238E27FC236}">
                <a16:creationId xmlns:a16="http://schemas.microsoft.com/office/drawing/2014/main" id="{AE3B0FA4-3B42-4C62-B256-BAB631ED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01:20–02:10</a:t>
            </a:r>
          </a:p>
        </p:txBody>
      </p:sp>
      <p:sp>
        <p:nvSpPr>
          <p:cNvPr id="16" name="demo-head-2">
            <a:extLst xmlns:a="http://schemas.openxmlformats.org/drawingml/2006/main">
              <a:ext uri="{FF2B5EF4-FFF2-40B4-BE49-F238E27FC236}">
                <a16:creationId xmlns:a16="http://schemas.microsoft.com/office/drawing/2014/main" id="{A11C36E2-7AB3-48C7-8C33-32CB7B87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90975"/>
            <a:ext cx="3238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Đặt hàng</a:t>
            </a:r>
          </a:p>
        </p:txBody>
      </p:sp>
      <p:sp>
        <p:nvSpPr>
          <p:cNvPr id="17" name="demo-body-2">
            <a:extLst xmlns:a="http://schemas.openxmlformats.org/drawingml/2006/main">
              <a:ext uri="{FF2B5EF4-FFF2-40B4-BE49-F238E27FC236}">
                <a16:creationId xmlns:a16="http://schemas.microsoft.com/office/drawing/2014/main" id="{002CCFCB-117E-4409-A43F-321EB774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90975"/>
            <a:ext cx="5219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Vào Đơn hàng, nhập địa chỉ, đặt hàng và xem đơn vừa tạo</a:t>
            </a:r>
          </a:p>
        </p:txBody>
      </p:sp>
      <p:sp>
        <p:nvSpPr>
          <p:cNvPr id="18" name="demo-rule-2">
            <a:extLst xmlns:a="http://schemas.openxmlformats.org/drawingml/2006/main">
              <a:ext uri="{FF2B5EF4-FFF2-40B4-BE49-F238E27FC236}">
                <a16:creationId xmlns:a16="http://schemas.microsoft.com/office/drawing/2014/main" id="{CF4E7937-B032-4FB8-AC7D-37DFF68E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33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19" name="demo-time-3">
            <a:extLst xmlns:a="http://schemas.openxmlformats.org/drawingml/2006/main">
              <a:ext uri="{FF2B5EF4-FFF2-40B4-BE49-F238E27FC236}">
                <a16:creationId xmlns:a16="http://schemas.microsoft.com/office/drawing/2014/main" id="{26D5A7F0-6C50-489A-9E3A-FADE9740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02:10–03:00</a:t>
            </a:r>
          </a:p>
        </p:txBody>
      </p:sp>
      <p:sp>
        <p:nvSpPr>
          <p:cNvPr id="20" name="demo-head-3">
            <a:extLst xmlns:a="http://schemas.openxmlformats.org/drawingml/2006/main">
              <a:ext uri="{FF2B5EF4-FFF2-40B4-BE49-F238E27FC236}">
                <a16:creationId xmlns:a16="http://schemas.microsoft.com/office/drawing/2014/main" id="{9FD48906-C314-4AB3-B885-8F3DA569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33950"/>
            <a:ext cx="3238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Tìm kiếm &amp; API</a:t>
            </a:r>
          </a:p>
        </p:txBody>
      </p:sp>
      <p:sp>
        <p:nvSpPr>
          <p:cNvPr id="21" name="demo-body-3">
            <a:extLst xmlns:a="http://schemas.openxmlformats.org/drawingml/2006/main">
              <a:ext uri="{FF2B5EF4-FFF2-40B4-BE49-F238E27FC236}">
                <a16:creationId xmlns:a16="http://schemas.microsoft.com/office/drawing/2014/main" id="{77AECFFE-ACFD-4E01-90C1-F59CA694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33950"/>
            <a:ext cx="5219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Mở Swagger; thử GET /search/books?q=Clean và giải thích luồng tìm kiếm</a:t>
            </a:r>
          </a:p>
        </p:txBody>
      </p:sp>
      <p:sp>
        <p:nvSpPr>
          <p:cNvPr id="22" name="demo-rule-3">
            <a:extLst xmlns:a="http://schemas.openxmlformats.org/drawingml/2006/main">
              <a:ext uri="{FF2B5EF4-FFF2-40B4-BE49-F238E27FC236}">
                <a16:creationId xmlns:a16="http://schemas.microsoft.com/office/drawing/2014/main" id="{152E0907-048D-461F-9E60-0F053941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23" name="demo-url">
            <a:extLst xmlns:a="http://schemas.openxmlformats.org/drawingml/2006/main">
              <a:ext uri="{FF2B5EF4-FFF2-40B4-BE49-F238E27FC236}">
                <a16:creationId xmlns:a16="http://schemas.microsoft.com/office/drawing/2014/main" id="{EE1C09F7-0E53-4C88-AA36-7F358ED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952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Frontend  localhost:3000       API &amp; Swagger  localhost:3001</a:t>
            </a:r>
          </a:p>
        </p:txBody>
      </p:sp>
    </p:spTree>
    <p:extLst>
      <p:ext uri="{BB962C8B-B14F-4D97-AF65-F5344CB8AC3E}">
        <p14:creationId xmlns:p14="http://schemas.microsoft.com/office/powerpoint/2010/main" val="59365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3987D7E1-9569-4F4C-9263-8BD0AECD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BOOK SELLING SYSTEM  /  NHÓM 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B537EB-D752-48EB-BABC-1539CA69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Tổng kết và hướng phát triển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B12F68-C4E7-48DB-87DF-E4733A79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E5B60FD-A936-4722-A7FD-ABB3ED38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FB8AC7-0A1B-497E-817F-98A31015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591B466-C37E-43DD-9DA9-04E001D0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95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Ba ý chính cần nhớ sau phần trình bày.</a:t>
            </a:r>
          </a:p>
        </p:txBody>
      </p:sp>
      <p:sp>
        <p:nvSpPr>
          <p:cNvPr id="7" name="summary-number-0">
            <a:extLst xmlns:a="http://schemas.openxmlformats.org/drawingml/2006/main">
              <a:ext uri="{FF2B5EF4-FFF2-40B4-BE49-F238E27FC236}">
                <a16:creationId xmlns:a16="http://schemas.microsoft.com/office/drawing/2014/main" id="{5875B591-E306-49FD-9316-8B7309AE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3314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summary-rule-0">
            <a:extLst xmlns:a="http://schemas.openxmlformats.org/drawingml/2006/main">
              <a:ext uri="{FF2B5EF4-FFF2-40B4-BE49-F238E27FC236}">
                <a16:creationId xmlns:a16="http://schemas.microsoft.com/office/drawing/2014/main" id="{CE5E4360-E665-4ECB-9807-15EE894C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9" name="summary-head-0">
            <a:extLst xmlns:a="http://schemas.openxmlformats.org/drawingml/2006/main">
              <a:ext uri="{FF2B5EF4-FFF2-40B4-BE49-F238E27FC236}">
                <a16:creationId xmlns:a16="http://schemas.microsoft.com/office/drawing/2014/main" id="{9C3DB6EE-76D2-4CB3-8742-BAEC7AE7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9975"/>
            <a:ext cx="32575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Luồng mua sách</a:t>
            </a:r>
          </a:p>
        </p:txBody>
      </p:sp>
      <p:sp>
        <p:nvSpPr>
          <p:cNvPr id="10" name="summary-body-0">
            <a:extLst xmlns:a="http://schemas.openxmlformats.org/drawingml/2006/main">
              <a:ext uri="{FF2B5EF4-FFF2-40B4-BE49-F238E27FC236}">
                <a16:creationId xmlns:a16="http://schemas.microsoft.com/office/drawing/2014/main" id="{EEA02E29-73CC-41AF-8BAA-2B508C4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3257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Từ danh mục, giỏ hàng đến đơn hàng, theo vai trò người dùng.</a:t>
            </a:r>
          </a:p>
        </p:txBody>
      </p:sp>
      <p:sp>
        <p:nvSpPr>
          <p:cNvPr id="11" name="summary-number-1">
            <a:extLst xmlns:a="http://schemas.openxmlformats.org/drawingml/2006/main">
              <a:ext uri="{FF2B5EF4-FFF2-40B4-BE49-F238E27FC236}">
                <a16:creationId xmlns:a16="http://schemas.microsoft.com/office/drawing/2014/main" id="{27A70D38-0851-42F4-AF43-059B816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314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B4D5873B-BBB7-46C2-B2FF-2BBC3F69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194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13" name="summary-head-1">
            <a:extLst xmlns:a="http://schemas.openxmlformats.org/drawingml/2006/main">
              <a:ext uri="{FF2B5EF4-FFF2-40B4-BE49-F238E27FC236}">
                <a16:creationId xmlns:a16="http://schemas.microsoft.com/office/drawing/2014/main" id="{8FF7AD2F-0F8A-4A28-BBA3-AD557D7B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09975"/>
            <a:ext cx="32575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Dữ liệu nhất quán</a:t>
            </a:r>
          </a:p>
        </p:txBody>
      </p:sp>
      <p:sp>
        <p:nvSpPr>
          <p:cNvPr id="14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7FF6B85B-54C7-4148-85D3-E5C9F6A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24325"/>
            <a:ext cx="3257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Tạo đơn, trừ tồn và ghi sự kiện trong cùng transaction.</a:t>
            </a:r>
          </a:p>
        </p:txBody>
      </p:sp>
      <p:sp>
        <p:nvSpPr>
          <p:cNvPr id="15" name="summary-number-2">
            <a:extLst xmlns:a="http://schemas.openxmlformats.org/drawingml/2006/main">
              <a:ext uri="{FF2B5EF4-FFF2-40B4-BE49-F238E27FC236}">
                <a16:creationId xmlns:a16="http://schemas.microsoft.com/office/drawing/2014/main" id="{06E58B45-784C-47FB-9FCC-17316009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314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29C7C92C-3C2B-45E9-B828-433FB934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194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</p:spPr>
      </p:sp>
      <p:sp>
        <p:nvSpPr>
          <p:cNvPr id="17" name="summary-head-2">
            <a:extLst xmlns:a="http://schemas.openxmlformats.org/drawingml/2006/main">
              <a:ext uri="{FF2B5EF4-FFF2-40B4-BE49-F238E27FC236}">
                <a16:creationId xmlns:a16="http://schemas.microsoft.com/office/drawing/2014/main" id="{2367EEAA-C637-4EFE-9220-AFDB139F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9975"/>
            <a:ext cx="32575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Dễ mở rộng</a:t>
            </a:r>
          </a:p>
        </p:txBody>
      </p:sp>
      <p:sp>
        <p:nvSpPr>
          <p:cNvPr id="18" name="summary-body-2">
            <a:extLst xmlns:a="http://schemas.openxmlformats.org/drawingml/2006/main">
              <a:ext uri="{FF2B5EF4-FFF2-40B4-BE49-F238E27FC236}">
                <a16:creationId xmlns:a16="http://schemas.microsoft.com/office/drawing/2014/main" id="{CA8CD39F-CCBF-432C-B62A-7EC2FEEF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24325"/>
            <a:ext cx="3257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  <a:latin typeface="Arial"/>
                <a:ea typeface="Arial"/>
                <a:cs typeface="Arial"/>
              </a:defRPr>
            </a:pPr>
            <a:r>
              <a:t>Cache, hàng đợi, tìm kiếm và tác vụ định kỳ có vai trò riêng.</a:t>
            </a:r>
          </a:p>
        </p:txBody>
      </p:sp>
      <p:sp>
        <p:nvSpPr>
          <p:cNvPr id="19" name="next-panel">
            <a:extLst xmlns:a="http://schemas.openxmlformats.org/drawingml/2006/main">
              <a:ext uri="{FF2B5EF4-FFF2-40B4-BE49-F238E27FC236}">
                <a16:creationId xmlns:a16="http://schemas.microsoft.com/office/drawing/2014/main" id="{FFA51351-9CB5-4889-BE14-68F0296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110871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3"/>
          </a:solidFill>
        </p:spPr>
      </p:sp>
      <p:sp>
        <p:nvSpPr>
          <p:cNvPr id="20" name="next-label">
            <a:extLst xmlns:a="http://schemas.openxmlformats.org/drawingml/2006/main">
              <a:ext uri="{FF2B5EF4-FFF2-40B4-BE49-F238E27FC236}">
                <a16:creationId xmlns:a16="http://schemas.microsoft.com/office/drawing/2014/main" id="{C7C17950-CAC0-4B30-8FBB-104AF1CE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B46"/>
                </a:solidFill>
                <a:latin typeface="Arial"/>
                <a:ea typeface="Arial"/>
                <a:cs typeface="Arial"/>
              </a:defRPr>
            </a:pPr>
            <a:r>
              <a:t>HƯỚNG PHÁT TRIỂN</a:t>
            </a:r>
          </a:p>
        </p:txBody>
      </p:sp>
      <p:sp>
        <p:nvSpPr>
          <p:cNvPr id="21" name="next-text">
            <a:extLst xmlns:a="http://schemas.openxmlformats.org/drawingml/2006/main">
              <a:ext uri="{FF2B5EF4-FFF2-40B4-BE49-F238E27FC236}">
                <a16:creationId xmlns:a16="http://schemas.microsoft.com/office/drawing/2014/main" id="{08C0D5B6-5117-45D3-AF9E-371A442B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1E"/>
                </a:solidFill>
                <a:latin typeface="Arial"/>
                <a:ea typeface="Arial"/>
                <a:cs typeface="Arial"/>
              </a:defRPr>
            </a:pPr>
            <a:r>
              <a:t>Thanh toán trực tuyến  ·  Theo dõi vận chuyển  ·  Báo cáo quản trị</a:t>
            </a:r>
          </a:p>
        </p:txBody>
      </p:sp>
    </p:spTree>
    <p:extLst>
      <p:ext uri="{BB962C8B-B14F-4D97-AF65-F5344CB8AC3E}">
        <p14:creationId xmlns:p14="http://schemas.microsoft.com/office/powerpoint/2010/main" val="72021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2026-10-20T21:17:07.5300000Z</dcterms:created>
  <dcterms:modified xsi:type="dcterms:W3CDTF">2026-10-20T21:17:07.5300000Z</dcterms:modified>
</coreProperties>
</file>